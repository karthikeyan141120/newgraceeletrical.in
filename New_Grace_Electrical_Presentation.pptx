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image" Target="../media/image-7-4.jpeg"/><Relationship Id="rId5" Type="http://schemas.openxmlformats.org/officeDocument/2006/relationships/image" Target="../media/image-7-5.jpeg"/><Relationship Id="rId6" Type="http://schemas.openxmlformats.org/officeDocument/2006/relationships/image" Target="../media/image-7-6.jpe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548640"/>
            <a:ext cx="2926080" cy="109728"/>
          </a:xfrm>
          <a:prstGeom prst="rect">
            <a:avLst/>
          </a:prstGeom>
          <a:solidFill>
            <a:srgbClr val="CADCFC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823960" y="685800"/>
            <a:ext cx="2880360" cy="109728"/>
          </a:xfrm>
          <a:prstGeom prst="rect">
            <a:avLst/>
          </a:prstGeom>
          <a:solidFill>
            <a:srgbClr val="CADCFC">
              <a:alpha val="3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869680" y="822960"/>
            <a:ext cx="2834640" cy="109728"/>
          </a:xfrm>
          <a:prstGeom prst="rect">
            <a:avLst/>
          </a:prstGeom>
          <a:solidFill>
            <a:srgbClr val="CADCFC">
              <a:alpha val="4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915400" y="960120"/>
            <a:ext cx="2788920" cy="109728"/>
          </a:xfrm>
          <a:prstGeom prst="rect">
            <a:avLst/>
          </a:prstGeom>
          <a:solidFill>
            <a:srgbClr val="CADCFC">
              <a:alpha val="5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961120" y="1097280"/>
            <a:ext cx="2743200" cy="109728"/>
          </a:xfrm>
          <a:prstGeom prst="rect">
            <a:avLst/>
          </a:prstGeom>
          <a:solidFill>
            <a:srgbClr val="CADCFC">
              <a:alpha val="6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006840" y="1234440"/>
            <a:ext cx="2697480" cy="109728"/>
          </a:xfrm>
          <a:prstGeom prst="rect">
            <a:avLst/>
          </a:prstGeom>
          <a:solidFill>
            <a:srgbClr val="CADCFC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317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GRACE ELECTRICAL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Engineering  •  Panel Boards  •  Cable Trays  •  Fabrication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Capability Presentation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Hosur, Tamil Nadu, India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Us</a:t>
            </a:r>
            <a:endParaRPr lang="en-US" sz="3200" dirty="0"/>
          </a:p>
        </p:txBody>
      </p:sp>
      <p:pic>
        <p:nvPicPr>
          <p:cNvPr id="3" name="Image 0" descr="/home/claude/imgs/signage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417320"/>
            <a:ext cx="5394960" cy="243230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309360" y="1417320"/>
            <a:ext cx="5394960" cy="2432304"/>
          </a:xfrm>
          <a:prstGeom prst="rect">
            <a:avLst/>
          </a:prstGeom>
          <a:ln w="19050">
            <a:solidFill>
              <a:srgbClr val="1E276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1463040"/>
            <a:ext cx="53949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Grace Electrical is an electrical engineering, consultancy and fabrication company based in Hosur, Tamil Nadu.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 designs, manufactures and installs electrical panel boards, cable tray systems, and custom structural / sheet-metal fabrications for industrial clients.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an in-house fabrication shop with TIG &amp; MIG welding, sheet-metal cutting and press-brake bending, the team delivers projects from design through site erection.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5074920"/>
            <a:ext cx="1993392" cy="457200"/>
          </a:xfrm>
          <a:prstGeom prst="roundRect">
            <a:avLst>
              <a:gd name="adj" fmla="val 16000"/>
            </a:avLst>
          </a:prstGeom>
          <a:solidFill>
            <a:srgbClr val="CADCFC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5074920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Engineers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06624" y="5074920"/>
            <a:ext cx="2427732" cy="457200"/>
          </a:xfrm>
          <a:prstGeom prst="roundRect">
            <a:avLst>
              <a:gd name="adj" fmla="val 16000"/>
            </a:avLst>
          </a:prstGeom>
          <a:solidFill>
            <a:srgbClr val="CADCFC"/>
          </a:solidFill>
          <a:ln/>
        </p:spPr>
      </p:sp>
      <p:sp>
        <p:nvSpPr>
          <p:cNvPr id="9" name="Text 6"/>
          <p:cNvSpPr/>
          <p:nvPr/>
        </p:nvSpPr>
        <p:spPr>
          <a:xfrm>
            <a:off x="2706624" y="5074920"/>
            <a:ext cx="24277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Consultants &amp; Contractors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298948" y="5074920"/>
            <a:ext cx="2340864" cy="457200"/>
          </a:xfrm>
          <a:prstGeom prst="roundRect">
            <a:avLst>
              <a:gd name="adj" fmla="val 16000"/>
            </a:avLst>
          </a:prstGeom>
          <a:solidFill>
            <a:srgbClr val="CADCFC"/>
          </a:solidFill>
          <a:ln/>
        </p:spPr>
      </p:sp>
      <p:sp>
        <p:nvSpPr>
          <p:cNvPr id="11" name="Text 8"/>
          <p:cNvSpPr/>
          <p:nvPr/>
        </p:nvSpPr>
        <p:spPr>
          <a:xfrm>
            <a:off x="5298948" y="5074920"/>
            <a:ext cx="2340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 Tray Manufacturers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5669280"/>
            <a:ext cx="2427732" cy="457200"/>
          </a:xfrm>
          <a:prstGeom prst="roundRect">
            <a:avLst>
              <a:gd name="adj" fmla="val 16000"/>
            </a:avLst>
          </a:prstGeom>
          <a:solidFill>
            <a:srgbClr val="CADCFC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5669280"/>
            <a:ext cx="24277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Board Manufacturers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GRACE ELECTRICAL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Do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integrated service lines, delivered end to end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6459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Panel Boards &amp; Switchgear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20116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 panels, MCC panels, distribution boards — designed, built and tested in-house.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5877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87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254203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 Tray Manufacturing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90779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Perforated and ladder-type cable trays, galvanized for indoor and outdoor runs.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4838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83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3438144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&amp; Sheet-Metal Fabrication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803904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enclosures, racks, trunking and structural steel work using TIG/MIG welding and press-brake bending.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37997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379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4334256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Erection &amp; Installation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4700016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Crane-assisted installation of gantries, mezzanines and grating platforms at client sites.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2760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276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34440" y="523036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Consultancy &amp; Contracting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559612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design, consultancy and turnkey electrical contracting services.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GRACE ELECTRICAL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panel_busbar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676656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766560" y="0"/>
            <a:ext cx="542513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1"/>
          <p:cNvSpPr/>
          <p:nvPr/>
        </p:nvSpPr>
        <p:spPr>
          <a:xfrm>
            <a:off x="7086600" y="100584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Panel Boards</a:t>
            </a:r>
            <a:endParaRPr lang="en-US" sz="2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Switchgear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086600" y="2651760"/>
            <a:ext cx="4663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 panel boards &amp; MCC assemblies built to customer spec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Busbar fabrication, MCCB &amp; switchgear integration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testing before dispatch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Ready-to-commission enclosures with safety labeling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Cable Tray Manufacturing</a:t>
            </a:r>
            <a:endParaRPr lang="en-US" sz="3000" dirty="0"/>
          </a:p>
        </p:txBody>
      </p:sp>
      <p:pic>
        <p:nvPicPr>
          <p:cNvPr id="3" name="Image 0" descr="/home/claude/imgs/tray_perforated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3383280" cy="4754880"/>
          </a:xfrm>
          <a:prstGeom prst="rect">
            <a:avLst/>
          </a:prstGeom>
        </p:spPr>
      </p:pic>
      <p:pic>
        <p:nvPicPr>
          <p:cNvPr id="4" name="Image 1" descr="/home/claude/imgs/tray_ladder_outdoor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114800" y="1371600"/>
            <a:ext cx="3383280" cy="475488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7726680" y="1371600"/>
            <a:ext cx="3886200" cy="475488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6" name="Text 2"/>
          <p:cNvSpPr/>
          <p:nvPr/>
        </p:nvSpPr>
        <p:spPr>
          <a:xfrm>
            <a:off x="8001000" y="16916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Perforated &amp; Ladder Type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8001000" y="2286000"/>
            <a:ext cx="33832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Manufactured in-house from sheet steel and structural sections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Hot-dip galvanized finish for corrosion resistance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 perforated trays and heavy-duty outdoor ladder trays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Supplied in bulk for industrial and site installation projects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GRACE ELECTRICAL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Structural Steel &amp; Site Erection</a:t>
            </a:r>
            <a:endParaRPr lang="en-US" sz="3000" dirty="0"/>
          </a:p>
        </p:txBody>
      </p:sp>
      <p:pic>
        <p:nvPicPr>
          <p:cNvPr id="3" name="Image 0" descr="/home/claude/imgs/mezzanine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6675120" cy="4754880"/>
          </a:xfrm>
          <a:prstGeom prst="rect">
            <a:avLst/>
          </a:prstGeom>
        </p:spPr>
      </p:pic>
      <p:pic>
        <p:nvPicPr>
          <p:cNvPr id="4" name="Image 1" descr="/home/claude/imgs/grating_crane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360920" y="1371600"/>
            <a:ext cx="4251960" cy="2286000"/>
          </a:xfrm>
          <a:prstGeom prst="rect">
            <a:avLst/>
          </a:prstGeom>
        </p:spPr>
      </p:pic>
      <p:pic>
        <p:nvPicPr>
          <p:cNvPr id="5" name="Image 2" descr="/home/claude/imgs/pipe_flange.jpe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360920" y="3840480"/>
            <a:ext cx="4251960" cy="22860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GRACE ELECTRICAL</a:t>
            </a:r>
            <a:endParaRPr lang="en-US" sz="900" dirty="0"/>
          </a:p>
        </p:txBody>
      </p:sp>
      <p:sp>
        <p:nvSpPr>
          <p:cNvPr id="7" name="Text 2"/>
          <p:cNvSpPr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 Fabrication &amp; Welding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TIG &amp; MIG welding, sheet-metal cutting and press-brake bending</a:t>
            </a:r>
            <a:endParaRPr lang="en-US" sz="1400" dirty="0"/>
          </a:p>
        </p:txBody>
      </p:sp>
      <p:pic>
        <p:nvPicPr>
          <p:cNvPr id="4" name="Image 0" descr="/home/claude/imgs/welded_frame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00200"/>
            <a:ext cx="3566160" cy="2331720"/>
          </a:xfrm>
          <a:prstGeom prst="rect">
            <a:avLst/>
          </a:prstGeom>
        </p:spPr>
      </p:pic>
      <p:pic>
        <p:nvPicPr>
          <p:cNvPr id="5" name="Image 1" descr="/home/claude/imgs/trunking_pressbrake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51960" y="1600200"/>
            <a:ext cx="3566160" cy="2331720"/>
          </a:xfrm>
          <a:prstGeom prst="rect">
            <a:avLst/>
          </a:prstGeom>
        </p:spPr>
      </p:pic>
      <p:pic>
        <p:nvPicPr>
          <p:cNvPr id="6" name="Image 2" descr="/home/claude/imgs/chair.jpe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955280" y="1600200"/>
            <a:ext cx="3566160" cy="2331720"/>
          </a:xfrm>
          <a:prstGeom prst="rect">
            <a:avLst/>
          </a:prstGeom>
        </p:spPr>
      </p:pic>
      <p:pic>
        <p:nvPicPr>
          <p:cNvPr id="7" name="Image 3" descr="/home/claude/imgs/rack.jpe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48640" y="4069080"/>
            <a:ext cx="3566160" cy="2331720"/>
          </a:xfrm>
          <a:prstGeom prst="rect">
            <a:avLst/>
          </a:prstGeom>
        </p:spPr>
      </p:pic>
      <p:pic>
        <p:nvPicPr>
          <p:cNvPr id="8" name="Image 4" descr="/home/claude/imgs/workstation.jpe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51960" y="4069080"/>
            <a:ext cx="3566160" cy="2331720"/>
          </a:xfrm>
          <a:prstGeom prst="rect">
            <a:avLst/>
          </a:prstGeom>
        </p:spPr>
      </p:pic>
      <p:pic>
        <p:nvPicPr>
          <p:cNvPr id="9" name="Image 5" descr="/home/claude/imgs/panel_frame.jpe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955280" y="4069080"/>
            <a:ext cx="3566160" cy="2331720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GRACE ELECTRICAL</a:t>
            </a:r>
            <a:endParaRPr lang="en-US" sz="900" dirty="0"/>
          </a:p>
        </p:txBody>
      </p:sp>
      <p:sp>
        <p:nvSpPr>
          <p:cNvPr id="11" name="Text 3"/>
          <p:cNvSpPr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Process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945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Consultancy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review and design finalization with the client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81528" y="3383280"/>
            <a:ext cx="283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383280" y="201168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3B4FA0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21945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66160" y="292608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Cutting &amp;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66160" y="384048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Sheet-metal cutting, press-brake bending, TIG/MIG welding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16168" y="3383280"/>
            <a:ext cx="283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21945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400800" y="292608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&amp;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Building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384048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Busbar, switchgear and panel assembly with in-house QC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750808" y="3383280"/>
            <a:ext cx="283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052560" y="201168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3B4FA0"/>
          </a:solidFill>
          <a:ln/>
        </p:spPr>
      </p:sp>
      <p:sp>
        <p:nvSpPr>
          <p:cNvPr id="19" name="Text 17"/>
          <p:cNvSpPr/>
          <p:nvPr/>
        </p:nvSpPr>
        <p:spPr>
          <a:xfrm>
            <a:off x="9235440" y="21945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235440" y="292608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Installation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Testing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235440" y="384048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Crane-assisted erection, commissioning and handover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GRACE ELECTRICAL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Completed Projects</a:t>
            </a:r>
            <a:endParaRPr lang="en-US" sz="3000" dirty="0"/>
          </a:p>
        </p:txBody>
      </p:sp>
      <p:pic>
        <p:nvPicPr>
          <p:cNvPr id="3" name="Image 0" descr="/home/claude/imgs/panel_finished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3611880" cy="3931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4846320"/>
            <a:ext cx="3611880" cy="502920"/>
          </a:xfrm>
          <a:prstGeom prst="rect">
            <a:avLst/>
          </a:prstGeom>
          <a:solidFill>
            <a:srgbClr val="1E2761">
              <a:alpha val="8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85800" y="484632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panel — commissioned</a:t>
            </a:r>
            <a:endParaRPr lang="en-US" sz="1150" dirty="0"/>
          </a:p>
        </p:txBody>
      </p:sp>
      <p:pic>
        <p:nvPicPr>
          <p:cNvPr id="6" name="Image 1" descr="/home/claude/imgs/panel_decorated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43400" y="1417320"/>
            <a:ext cx="3611880" cy="3931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343400" y="4846320"/>
            <a:ext cx="3611880" cy="502920"/>
          </a:xfrm>
          <a:prstGeom prst="rect">
            <a:avLst/>
          </a:prstGeom>
          <a:solidFill>
            <a:srgbClr val="1E2761">
              <a:alpha val="85000"/>
            </a:srgbClr>
          </a:solidFill>
          <a:ln/>
        </p:spPr>
      </p:sp>
      <p:sp>
        <p:nvSpPr>
          <p:cNvPr id="8" name="Text 4"/>
          <p:cNvSpPr/>
          <p:nvPr/>
        </p:nvSpPr>
        <p:spPr>
          <a:xfrm>
            <a:off x="4480560" y="484632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handover</a:t>
            </a:r>
            <a:endParaRPr lang="en-US" sz="1150" dirty="0"/>
          </a:p>
        </p:txBody>
      </p:sp>
      <p:pic>
        <p:nvPicPr>
          <p:cNvPr id="9" name="Image 2" descr="/home/claude/imgs/tray_ladder_stack.jpe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38160" y="1417320"/>
            <a:ext cx="3611880" cy="393192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8138160" y="4846320"/>
            <a:ext cx="3611880" cy="502920"/>
          </a:xfrm>
          <a:prstGeom prst="rect">
            <a:avLst/>
          </a:prstGeom>
          <a:solidFill>
            <a:srgbClr val="1E2761">
              <a:alpha val="85000"/>
            </a:srgbClr>
          </a:solidFill>
          <a:ln/>
        </p:spPr>
      </p:sp>
      <p:sp>
        <p:nvSpPr>
          <p:cNvPr id="11" name="Text 6"/>
          <p:cNvSpPr/>
          <p:nvPr/>
        </p:nvSpPr>
        <p:spPr>
          <a:xfrm>
            <a:off x="8275320" y="484632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 tray dispatch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GRACE ELECTRICAL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Choose New Grace Electrical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801368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Fabrication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297680" y="1801368"/>
            <a:ext cx="7040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TIG/MIG welding, cutting and bending under one roof — full control on quality and lead time.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898648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008376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Delivery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297680" y="3008376"/>
            <a:ext cx="7040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design and consultancy through fabrication to site erection and commissioning.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105656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215384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Site Execution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97680" y="4215384"/>
            <a:ext cx="7040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Crane-assisted installation of large structures such as gantries and mezzanine platforms.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5312664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5422392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Engineering-Led Team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297680" y="5422392"/>
            <a:ext cx="7040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Consultancy and contracting backed by qualified electrical engineers.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GRACE ELECTRICAL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548640"/>
            <a:ext cx="2926080" cy="109728"/>
          </a:xfrm>
          <a:prstGeom prst="rect">
            <a:avLst/>
          </a:prstGeom>
          <a:solidFill>
            <a:srgbClr val="CADCFC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823960" y="685800"/>
            <a:ext cx="2880360" cy="109728"/>
          </a:xfrm>
          <a:prstGeom prst="rect">
            <a:avLst/>
          </a:prstGeom>
          <a:solidFill>
            <a:srgbClr val="CADCFC">
              <a:alpha val="3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869680" y="822960"/>
            <a:ext cx="2834640" cy="109728"/>
          </a:xfrm>
          <a:prstGeom prst="rect">
            <a:avLst/>
          </a:prstGeom>
          <a:solidFill>
            <a:srgbClr val="CADCFC">
              <a:alpha val="4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915400" y="960120"/>
            <a:ext cx="2788920" cy="109728"/>
          </a:xfrm>
          <a:prstGeom prst="rect">
            <a:avLst/>
          </a:prstGeom>
          <a:solidFill>
            <a:srgbClr val="CADCFC">
              <a:alpha val="5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961120" y="1097280"/>
            <a:ext cx="2743200" cy="109728"/>
          </a:xfrm>
          <a:prstGeom prst="rect">
            <a:avLst/>
          </a:prstGeom>
          <a:solidFill>
            <a:srgbClr val="CADCFC">
              <a:alpha val="6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006840" y="1234440"/>
            <a:ext cx="2697480" cy="109728"/>
          </a:xfrm>
          <a:prstGeom prst="rect">
            <a:avLst/>
          </a:prstGeom>
          <a:solidFill>
            <a:srgbClr val="CADCFC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2801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Work Together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31520" y="2057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GRACE ELECTRICAL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514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Engineer, Consultant, Contractors, Cable Trays &amp; Panel Boards Manufacturers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" y="3429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888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Sy.No.44/Q4, Plot No.30, Rajeshwari Layout, Hosur - 635126, Tamil Nadu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3886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68880" y="3886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97869 83972   /   84388 41784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43434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6888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newgraceelectrical@gmail.com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800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68880" y="4800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www.newgraceelectrical.in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5257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68880" y="5257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33AFZPT8471Q1ZO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2026-08-06T11:55:34Z</dcterms:created>
  <dcterms:modified xsi:type="dcterms:W3CDTF">2026-08-06T11:55:34Z</dcterms:modified>
</cp:coreProperties>
</file>